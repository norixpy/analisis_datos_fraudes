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PT Sans Narrow"/>
      <p:regular r:id="rId17"/>
      <p:bold r:id="rId18"/>
    </p:embeddedFont>
    <p:embeddedFont>
      <p:font typeface="Oswald"/>
      <p:regular r:id="rId19"/>
      <p:bold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A718D3-E8BC-4EE4-ADC6-5517B5D7469D}">
  <a:tblStyle styleId="{53A718D3-E8BC-4EE4-ADC6-5517B5D7469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bold.fntdata"/><Relationship Id="rId11" Type="http://schemas.openxmlformats.org/officeDocument/2006/relationships/slide" Target="slides/slide5.xml"/><Relationship Id="rId22" Type="http://schemas.openxmlformats.org/officeDocument/2006/relationships/font" Target="fonts/OpenSans-bold.fntdata"/><Relationship Id="rId10" Type="http://schemas.openxmlformats.org/officeDocument/2006/relationships/slide" Target="slides/slide4.xml"/><Relationship Id="rId21" Type="http://schemas.openxmlformats.org/officeDocument/2006/relationships/font" Target="fonts/OpenSans-regular.fntdata"/><Relationship Id="rId13" Type="http://schemas.openxmlformats.org/officeDocument/2006/relationships/slide" Target="slides/slide7.xml"/><Relationship Id="rId24" Type="http://schemas.openxmlformats.org/officeDocument/2006/relationships/font" Target="fonts/OpenSans-boldItalic.fntdata"/><Relationship Id="rId12" Type="http://schemas.openxmlformats.org/officeDocument/2006/relationships/slide" Target="slides/slide6.xml"/><Relationship Id="rId23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TSansNarrow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Oswald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TSansNarrow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449c5fdf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449c5fdf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449c5fdf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449c5fdf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467d50b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467d50b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467d50b7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467d50b7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47d32213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47d32213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467d50b7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4467d50b7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467d50b7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4467d50b7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449c5fdf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4449c5fdf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47359064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447359064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0" lang="es" sz="4200">
                <a:solidFill>
                  <a:srgbClr val="B45F06"/>
                </a:solidFill>
                <a:latin typeface="Oswald"/>
                <a:ea typeface="Oswald"/>
                <a:cs typeface="Oswald"/>
                <a:sym typeface="Oswald"/>
              </a:rPr>
              <a:t>ANÁLISIS DE DATOS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FRAUDES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B45F06"/>
                </a:solidFill>
                <a:latin typeface="Oswald"/>
                <a:ea typeface="Oswald"/>
                <a:cs typeface="Oswald"/>
                <a:sym typeface="Oswald"/>
              </a:rPr>
              <a:t>VISIÓN GENERAL Y OBJETIVOS</a:t>
            </a:r>
            <a:endParaRPr sz="4200"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45F0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666666"/>
                </a:solidFill>
                <a:latin typeface="Droid Serif"/>
                <a:ea typeface="Droid Serif"/>
                <a:cs typeface="Droid Serif"/>
                <a:sym typeface="Droid Serif"/>
              </a:rPr>
              <a:t>Comprender los patrones de fraude en las transacciones financieras para identificar tendencias y grupos vulnerables, permite detectar comportamientos sospechosos y orientar estrategias de prevención , gestión de riesgos y mitigación.</a:t>
            </a:r>
            <a:endParaRPr sz="1500">
              <a:solidFill>
                <a:srgbClr val="666666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3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B45F06"/>
                </a:solidFill>
                <a:latin typeface="Oswald"/>
                <a:ea typeface="Oswald"/>
                <a:cs typeface="Oswald"/>
                <a:sym typeface="Oswald"/>
              </a:rPr>
              <a:t>KPI´S</a:t>
            </a:r>
            <a:endParaRPr sz="2400">
              <a:solidFill>
                <a:srgbClr val="B45F0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3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0" sz="2000">
              <a:solidFill>
                <a:srgbClr val="B45F0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152425"/>
            <a:ext cx="8520600" cy="34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45F0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Droid Serif"/>
              <a:buAutoNum type="arabicPeriod"/>
            </a:pPr>
            <a:r>
              <a:rPr lang="es" sz="1600">
                <a:solidFill>
                  <a:srgbClr val="666666"/>
                </a:solidFill>
                <a:latin typeface="Droid Serif"/>
                <a:ea typeface="Droid Serif"/>
                <a:cs typeface="Droid Serif"/>
                <a:sym typeface="Droid Serif"/>
              </a:rPr>
              <a:t>Edad Promedio del Cliente: segmentar clientes según su edad y detectar si ciertos grupos etarios son más vulnerables al fraude.</a:t>
            </a:r>
            <a:endParaRPr sz="1600">
              <a:solidFill>
                <a:srgbClr val="666666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Droid Serif"/>
              <a:buAutoNum type="arabicPeriod"/>
            </a:pPr>
            <a:r>
              <a:rPr lang="es" sz="1600">
                <a:solidFill>
                  <a:srgbClr val="666666"/>
                </a:solidFill>
                <a:latin typeface="Droid Serif"/>
                <a:ea typeface="Droid Serif"/>
                <a:cs typeface="Droid Serif"/>
                <a:sym typeface="Droid Serif"/>
              </a:rPr>
              <a:t>Porcentaje de Fraudes en Compras en Línea y Tiendas Físicas: Permite evaluar si el fraude en e-commerce es un problema mayor comparado con fraudes en tiendas físicas.Compara qué porcentaje de fraudes ocurre en compras online frente a compras presenciales.</a:t>
            </a:r>
            <a:endParaRPr sz="1600">
              <a:solidFill>
                <a:srgbClr val="666666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Droid Serif"/>
              <a:buAutoNum type="arabicPeriod"/>
            </a:pPr>
            <a:r>
              <a:rPr lang="es" sz="1600">
                <a:solidFill>
                  <a:srgbClr val="666666"/>
                </a:solidFill>
                <a:latin typeface="Droid Serif"/>
                <a:ea typeface="Droid Serif"/>
                <a:cs typeface="Droid Serif"/>
                <a:sym typeface="Droid Serif"/>
              </a:rPr>
              <a:t>Porcentaje y valor (monto) de Fraudes de Alto Valor y bajo valor: Ayuda a detectar fraudes de gran impacto financiero y definir límites de alerta.</a:t>
            </a:r>
            <a:endParaRPr sz="1900">
              <a:solidFill>
                <a:srgbClr val="666666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s" sz="1600">
                <a:solidFill>
                  <a:srgbClr val="B45F06"/>
                </a:solidFill>
                <a:latin typeface="Oswald"/>
                <a:ea typeface="Oswald"/>
                <a:cs typeface="Oswald"/>
                <a:sym typeface="Oswald"/>
              </a:rPr>
              <a:t>1. </a:t>
            </a:r>
            <a:r>
              <a:rPr b="0" lang="es" sz="1600">
                <a:solidFill>
                  <a:srgbClr val="B45F06"/>
                </a:solidFill>
                <a:latin typeface="Oswald"/>
                <a:ea typeface="Oswald"/>
                <a:cs typeface="Oswald"/>
                <a:sym typeface="Oswald"/>
              </a:rPr>
              <a:t>Edad Promedio del Cliente: </a:t>
            </a:r>
            <a:endParaRPr b="0" sz="1600">
              <a:solidFill>
                <a:srgbClr val="B45F0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100">
                <a:solidFill>
                  <a:srgbClr val="666666"/>
                </a:solidFill>
                <a:latin typeface="Droid Serif"/>
                <a:ea typeface="Droid Serif"/>
                <a:cs typeface="Droid Serif"/>
                <a:sym typeface="Droid Serif"/>
              </a:rPr>
              <a:t>Edad media de los clientes: 50.94 años, puede indicar, robo de identidad o fraudes financieros dirigido a adultos mayores,clonación de tarjetas o fraude presencial.</a:t>
            </a:r>
            <a:endParaRPr b="0" sz="1100">
              <a:solidFill>
                <a:srgbClr val="666666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666666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666666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750" y="1266325"/>
            <a:ext cx="5895351" cy="370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12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00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s" sz="1550">
                <a:solidFill>
                  <a:srgbClr val="B45F06"/>
                </a:solidFill>
                <a:latin typeface="Oswald"/>
                <a:ea typeface="Oswald"/>
                <a:cs typeface="Oswald"/>
                <a:sym typeface="Oswald"/>
              </a:rPr>
              <a:t>2.  Porcentaje de Fraudes en Compras en Línea(online) y Tiendas Físicas:</a:t>
            </a:r>
            <a:endParaRPr b="0" sz="1550">
              <a:solidFill>
                <a:srgbClr val="B45F0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100">
                <a:solidFill>
                  <a:srgbClr val="666666"/>
                </a:solidFill>
                <a:latin typeface="Droid Serif"/>
                <a:ea typeface="Droid Serif"/>
                <a:cs typeface="Droid Serif"/>
                <a:sym typeface="Droid Serif"/>
              </a:rPr>
              <a:t>            </a:t>
            </a:r>
            <a:r>
              <a:rPr lang="es" sz="1100">
                <a:solidFill>
                  <a:srgbClr val="666666"/>
                </a:solidFill>
                <a:latin typeface="Droid Serif"/>
                <a:ea typeface="Droid Serif"/>
                <a:cs typeface="Droid Serif"/>
                <a:sym typeface="Droid Serif"/>
              </a:rPr>
              <a:t>  Los fraudes Físicos=0 son más frecuentes lo cual tiene sentido con el análisis del grupo etario de edades</a:t>
            </a:r>
            <a:endParaRPr sz="1100">
              <a:solidFill>
                <a:srgbClr val="666666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100">
                <a:solidFill>
                  <a:srgbClr val="666666"/>
                </a:solidFill>
                <a:latin typeface="Droid Serif"/>
                <a:ea typeface="Droid Serif"/>
                <a:cs typeface="Droid Serif"/>
                <a:sym typeface="Droid Serif"/>
              </a:rPr>
              <a:t>              </a:t>
            </a:r>
            <a:r>
              <a:rPr b="0" lang="es" sz="1550">
                <a:solidFill>
                  <a:srgbClr val="B45F06"/>
                </a:solidFill>
                <a:latin typeface="Oswald"/>
                <a:ea typeface="Oswald"/>
                <a:cs typeface="Oswald"/>
                <a:sym typeface="Oswald"/>
              </a:rPr>
              <a:t>3.  Porcentaje y valor (monto) de Fraudes de Alto Valor y bajo valor :</a:t>
            </a:r>
            <a:endParaRPr b="0" sz="1550">
              <a:solidFill>
                <a:srgbClr val="B45F0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00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666666"/>
                </a:solidFill>
                <a:latin typeface="Droid Serif"/>
                <a:ea typeface="Droid Serif"/>
                <a:cs typeface="Droid Serif"/>
                <a:sym typeface="Droid Serif"/>
              </a:rPr>
              <a:t>Fraudes físicos son más frecuentes, pero suelen tener montos más bajos. </a:t>
            </a:r>
            <a:endParaRPr sz="1050">
              <a:solidFill>
                <a:srgbClr val="666666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indent="0" lvl="0" marL="4500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666666"/>
                </a:solidFill>
                <a:latin typeface="Droid Serif"/>
                <a:ea typeface="Droid Serif"/>
                <a:cs typeface="Droid Serif"/>
                <a:sym typeface="Droid Serif"/>
              </a:rPr>
              <a:t>Fraudes online son menos frecuentes, pero tienden a involucrar montos mayores.</a:t>
            </a:r>
            <a:endParaRPr sz="1050">
              <a:solidFill>
                <a:srgbClr val="666666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666666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 title="PBINEMH-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5712"/>
            <a:ext cx="9144003" cy="5214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solidFill>
                  <a:srgbClr val="B45F06"/>
                </a:solidFill>
                <a:latin typeface="Oswald"/>
                <a:ea typeface="Oswald"/>
                <a:cs typeface="Oswald"/>
                <a:sym typeface="Oswald"/>
              </a:rPr>
              <a:t>4. </a:t>
            </a:r>
            <a:r>
              <a:rPr b="0" lang="es" sz="1550">
                <a:solidFill>
                  <a:srgbClr val="B45F06"/>
                </a:solidFill>
                <a:latin typeface="Oswald"/>
                <a:ea typeface="Oswald"/>
                <a:cs typeface="Oswald"/>
                <a:sym typeface="Oswald"/>
              </a:rPr>
              <a:t>Distribución de transacciones por hora:</a:t>
            </a:r>
            <a:endParaRPr b="0" sz="1550">
              <a:solidFill>
                <a:srgbClr val="B45F0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100">
                <a:solidFill>
                  <a:srgbClr val="666666"/>
                </a:solidFill>
                <a:latin typeface="Droid Serif"/>
                <a:ea typeface="Droid Serif"/>
                <a:cs typeface="Droid Serif"/>
                <a:sym typeface="Droid Serif"/>
              </a:rPr>
              <a:t>Los fraudes ocurren en un rango de 22 hrs a 03 am, se debería implementar algunos sistemas de comprobación en ese rango de horario</a:t>
            </a:r>
            <a:endParaRPr b="0" sz="1550">
              <a:solidFill>
                <a:srgbClr val="B45F0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600" y="1317475"/>
            <a:ext cx="594360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SUGERENCIAS PARA </a:t>
            </a:r>
            <a:r>
              <a:rPr lang="es"/>
              <a:t>PREVENCIÓN</a:t>
            </a:r>
            <a:r>
              <a:rPr lang="es"/>
              <a:t> DE FRAUDES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s"/>
              <a:t>Implementar </a:t>
            </a:r>
            <a:r>
              <a:rPr lang="es"/>
              <a:t>algún</a:t>
            </a:r>
            <a:r>
              <a:rPr lang="es"/>
              <a:t> filtro en rango de edad de 50-60 años en compras </a:t>
            </a:r>
            <a:r>
              <a:rPr lang="es"/>
              <a:t>físicas</a:t>
            </a:r>
            <a:r>
              <a:rPr lang="es"/>
              <a:t> presenciales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s"/>
              <a:t>Pedir alguna </a:t>
            </a:r>
            <a:r>
              <a:rPr lang="es"/>
              <a:t>validación</a:t>
            </a:r>
            <a:r>
              <a:rPr lang="es"/>
              <a:t> en montos grandes para compras o pagos online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s"/>
              <a:t>Crear alguna alerta o </a:t>
            </a:r>
            <a:r>
              <a:rPr lang="es"/>
              <a:t>validación</a:t>
            </a:r>
            <a:r>
              <a:rPr lang="es"/>
              <a:t> en el horario de rango de 22:00 hrs a 03:00 hrs.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  XGBoost</a:t>
            </a:r>
            <a:endParaRPr/>
          </a:p>
        </p:txBody>
      </p:sp>
      <p:graphicFrame>
        <p:nvGraphicFramePr>
          <p:cNvPr id="113" name="Google Shape;113;p21"/>
          <p:cNvGraphicFramePr/>
          <p:nvPr/>
        </p:nvGraphicFramePr>
        <p:xfrm>
          <a:off x="457200" y="1097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{53A718D3-E8BC-4EE4-ADC6-5517B5D7469D}</a:tableStyleId>
              </a:tblPr>
              <a:tblGrid>
                <a:gridCol w="2100375"/>
                <a:gridCol w="915875"/>
                <a:gridCol w="889000"/>
                <a:gridCol w="889000"/>
                <a:gridCol w="8890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FFFF"/>
                          </a:solidFill>
                        </a:rPr>
                        <a:t>Accuracy: 0.9985262322560793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Reporte de Clasificación:</a:t>
                      </a:r>
                      <a:endParaRPr sz="1000">
                        <a:solidFill>
                          <a:srgbClr val="666666"/>
                        </a:solidFill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 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 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25400" marB="254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 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25400" marB="254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 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 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precisión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recall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f1-score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support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0 NO FRAUDES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1.0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1.0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1.0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368578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1 FRAUDES 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0.92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0.78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0.84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1901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 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 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 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 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 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accuracy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 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 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 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 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macro avg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0.96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0.89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0.92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370479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weighted avg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1.0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1.0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1.0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666666"/>
                          </a:solidFill>
                        </a:rPr>
                        <a:t>370479</a:t>
                      </a:r>
                      <a:endParaRPr sz="1000">
                        <a:solidFill>
                          <a:srgbClr val="666666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666666"/>
                        </a:solidFill>
                      </a:endParaRPr>
                    </a:p>
                  </a:txBody>
                  <a:tcPr marT="63500" marB="63500" marR="63500" marL="63500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125" y="488150"/>
            <a:ext cx="4888300" cy="3767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9" name="Google Shape;119;p22"/>
          <p:cNvGraphicFramePr/>
          <p:nvPr/>
        </p:nvGraphicFramePr>
        <p:xfrm>
          <a:off x="5381150" y="83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{53A718D3-E8BC-4EE4-ADC6-5517B5D7469D}</a:tableStyleId>
              </a:tblPr>
              <a:tblGrid>
                <a:gridCol w="776300"/>
                <a:gridCol w="1455225"/>
                <a:gridCol w="1344700"/>
              </a:tblGrid>
              <a:tr h="68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</a:rPr>
                        <a:t>Predicción: No Fraude (0)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</a:rPr>
                        <a:t>Predicción: Fraude (1)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130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</a:rPr>
                        <a:t>Real: No Fraude (0)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FFFFFF"/>
                          </a:solidFill>
                        </a:rPr>
                        <a:t>368454 (Verdaderos Negativos, VN)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FFFFFF"/>
                          </a:solidFill>
                        </a:rPr>
                        <a:t>124 (Falsos Positivos, FP)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8F00"/>
                    </a:solidFill>
                  </a:tcPr>
                </a:tc>
              </a:tr>
              <a:tr h="121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</a:rPr>
                        <a:t>Real: Fraude (1)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FFFFFF"/>
                          </a:solidFill>
                        </a:rPr>
                        <a:t>422 (Falsos Negativos, FN)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FFFFFF"/>
                          </a:solidFill>
                        </a:rPr>
                        <a:t>1479 (Verdaderos Positivos, VP)</a:t>
                      </a:r>
                      <a:endParaRPr sz="1100">
                        <a:solidFill>
                          <a:srgbClr val="666666"/>
                        </a:solidFill>
                        <a:latin typeface="Droid Serif"/>
                        <a:ea typeface="Droid Serif"/>
                        <a:cs typeface="Droid Serif"/>
                        <a:sym typeface="Droid Serif"/>
                      </a:endParaRPr>
                    </a:p>
                  </a:txBody>
                  <a:tcPr marT="63500" marB="63500" marR="63500" marL="63500">
                    <a:lnL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9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